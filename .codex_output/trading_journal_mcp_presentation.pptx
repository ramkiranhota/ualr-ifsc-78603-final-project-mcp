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b27f7d968840b3" /><Relationship Type="http://schemas.openxmlformats.org/officeDocument/2006/relationships/extended-properties" Target="/docProps/app.xml" Id="R0a2b272053b548bf" /><Relationship Type="http://schemas.openxmlformats.org/officeDocument/2006/relationships/officeDocument" Target="/ppt/presentation.xml" Id="R8aa233e7fdb0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e890b4fcf4284"/>
  </p:sldMasterIdLst>
  <p:notesMasterIdLst>
    <p:notesMasterId xmlns:r="http://schemas.openxmlformats.org/officeDocument/2006/relationships" r:id="R0cfef96625014d36"/>
  </p:notesMasterIdLst>
  <p:sldIdLst>
    <p:sldId xmlns:r="http://schemas.openxmlformats.org/officeDocument/2006/relationships" id="256" r:id="Ra901c22dd3a34293"/>
    <p:sldId xmlns:r="http://schemas.openxmlformats.org/officeDocument/2006/relationships" id="257" r:id="R07ef2b5ff8de4649"/>
    <p:sldId xmlns:r="http://schemas.openxmlformats.org/officeDocument/2006/relationships" id="258" r:id="Rb53ad241db6343e1"/>
    <p:sldId xmlns:r="http://schemas.openxmlformats.org/officeDocument/2006/relationships" id="259" r:id="R7a56979b02484ca5"/>
    <p:sldId xmlns:r="http://schemas.openxmlformats.org/officeDocument/2006/relationships" id="260" r:id="R77338e4692064596"/>
    <p:sldId xmlns:r="http://schemas.openxmlformats.org/officeDocument/2006/relationships" id="261" r:id="Ra03c40e04dbd4231"/>
    <p:sldId xmlns:r="http://schemas.openxmlformats.org/officeDocument/2006/relationships" id="262" r:id="R8e12ea7e5a964f30"/>
    <p:sldId xmlns:r="http://schemas.openxmlformats.org/officeDocument/2006/relationships" id="263" r:id="R36653e4ab885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929e9249174972" /><Relationship Type="http://schemas.openxmlformats.org/officeDocument/2006/relationships/slideMaster" Target="/ppt/slideMasters/slideMaster1.xml" Id="R753e890b4fcf4284" /><Relationship Type="http://schemas.openxmlformats.org/officeDocument/2006/relationships/notesMaster" Target="/ppt/notesMasters/notesMaster1.xml" Id="R0cfef96625014d36" /><Relationship Type="http://schemas.openxmlformats.org/officeDocument/2006/relationships/presProps" Target="/ppt/presProps.xml" Id="R6003e686f5a24fc0" /><Relationship Type="http://schemas.openxmlformats.org/officeDocument/2006/relationships/tableStyles" Target="/ppt/tableStyles.xml" Id="Rd76b2efbd3e541cd" /><Relationship Type="http://schemas.openxmlformats.org/officeDocument/2006/relationships/slide" Target="/ppt/slides/slide1.xml" Id="Ra901c22dd3a34293" /><Relationship Type="http://schemas.openxmlformats.org/officeDocument/2006/relationships/slide" Target="/ppt/slides/slide2.xml" Id="R07ef2b5ff8de4649" /><Relationship Type="http://schemas.openxmlformats.org/officeDocument/2006/relationships/slide" Target="/ppt/slides/slide3.xml" Id="Rb53ad241db6343e1" /><Relationship Type="http://schemas.openxmlformats.org/officeDocument/2006/relationships/slide" Target="/ppt/slides/slide4.xml" Id="R7a56979b02484ca5" /><Relationship Type="http://schemas.openxmlformats.org/officeDocument/2006/relationships/slide" Target="/ppt/slides/slide5.xml" Id="R77338e4692064596" /><Relationship Type="http://schemas.openxmlformats.org/officeDocument/2006/relationships/slide" Target="/ppt/slides/slide6.xml" Id="Ra03c40e04dbd4231" /><Relationship Type="http://schemas.openxmlformats.org/officeDocument/2006/relationships/slide" Target="/ppt/slides/slide7.xml" Id="R8e12ea7e5a964f30" /><Relationship Type="http://schemas.openxmlformats.org/officeDocument/2006/relationships/slide" Target="/ppt/slides/slide8.xml" Id="R36653e4ab885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a1ce165be43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d86485a453442d" /><Relationship Type="http://schemas.openxmlformats.org/officeDocument/2006/relationships/notesMaster" Target="/ppt/notesMasters/notesMaster1.xml" Id="R98868e95db3d42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e1d8c5ddd4f91" /><Relationship Type="http://schemas.openxmlformats.org/officeDocument/2006/relationships/notesMaster" Target="/ppt/notesMasters/notesMaster1.xml" Id="Re082684b0fe347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8fc9123a04e47" /><Relationship Type="http://schemas.openxmlformats.org/officeDocument/2006/relationships/notesMaster" Target="/ppt/notesMasters/notesMaster1.xml" Id="R1112d862694d47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5917e6e08344a4" /><Relationship Type="http://schemas.openxmlformats.org/officeDocument/2006/relationships/notesMaster" Target="/ppt/notesMasters/notesMaster1.xml" Id="R19a91e3a4aa24a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8ae7643f74535" /><Relationship Type="http://schemas.openxmlformats.org/officeDocument/2006/relationships/notesMaster" Target="/ppt/notesMasters/notesMaster1.xml" Id="Rfb3728de7f6045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54aa56c83450c" /><Relationship Type="http://schemas.openxmlformats.org/officeDocument/2006/relationships/notesMaster" Target="/ppt/notesMasters/notesMaster1.xml" Id="Rf5a73e06c9e248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d899f6eabc481b" /><Relationship Type="http://schemas.openxmlformats.org/officeDocument/2006/relationships/notesMaster" Target="/ppt/notesMasters/notesMaster1.xml" Id="R38b12230e0ae48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9e2ec58214785" /><Relationship Type="http://schemas.openxmlformats.org/officeDocument/2006/relationships/notesMaster" Target="/ppt/notesMasters/notesMaster1.xml" Id="Rc6b57580ccc3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 Context Protocol architecture documentation, https://modelcontextprotocol.io/docs/concepts/architecture. Trading Journal project documentation in docs/architecture_plan.md.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and concepts documentation: https://modelcontextprotocol.io/docs/concepts/architecture and specification sections for tools, resources and prompts at https://modelcontextprotocol.io/specification.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documentation on client-server interaction and capability discovery, https://modelcontextprotocol.io/docs/concepts/architecture.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MCP architecture documentation: https://modelcontextprotocol.io/docs/concepts/architecture. MCP 2026 roadmap for ecosystem direction: https://blog.modelcontextprotocol.io/posts/2026-mcp-roadmap/.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Trading Journal architecture documentation docs/architecture_plan.md and implementation plan docs/implementation_plan.md. External integrations are described in the project as Alpaca market data and Yahoo Finance demo news.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app/templates/workflow.html, scripts/mcp_demo_client.py, app/services/mcp_host.py, and app/services/market_data.py in the Trading Journal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docs/architecture_plan.md section Active MCP Endpoints and Current Safety Boundary. The project explicitly keeps live trading disabled and Broker MCP as a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MCP architecture documentation https://modelcontextprotocol.io/docs/concepts/architecture. MCP specification https://modelcontextprotocol.io/specification. MCP roadmap https://blog.modelcontextprotocol.io/posts/2026-mcp-roadmap/. Trading Journal local files docs/architecture_plan.md, docs/implementation_plan.md and app/templates/workflow.html.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ec1dda55849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4a38f30bc64223" /><Relationship Type="http://schemas.openxmlformats.org/officeDocument/2006/relationships/slideLayout" Target="/ppt/slideLayouts/slideLayout1.xml" Id="R6b7ab4dea8b1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ab4dea8b1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9cf64590743b9" /><Relationship Type="http://schemas.openxmlformats.org/officeDocument/2006/relationships/notesSlide" Target="/ppt/notesSlides/notesSlide1.xml" Id="R55ef51c0e334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4497b77894ea8" /><Relationship Type="http://schemas.openxmlformats.org/officeDocument/2006/relationships/notesSlide" Target="/ppt/notesSlides/notesSlide2.xml" Id="R2ea1c82721c1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86eb9e69f4b33" /><Relationship Type="http://schemas.openxmlformats.org/officeDocument/2006/relationships/notesSlide" Target="/ppt/notesSlides/notesSlide3.xml" Id="R19724a84bbea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d384553984612" /><Relationship Type="http://schemas.openxmlformats.org/officeDocument/2006/relationships/notesSlide" Target="/ppt/notesSlides/notesSlide4.xml" Id="R78a8858d7b24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293dfab8049e1" /><Relationship Type="http://schemas.openxmlformats.org/officeDocument/2006/relationships/notesSlide" Target="/ppt/notesSlides/notesSlide5.xml" Id="R5b326b8a57da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26b2d42c4895" /><Relationship Type="http://schemas.openxmlformats.org/officeDocument/2006/relationships/notesSlide" Target="/ppt/notesSlides/notesSlide6.xml" Id="R0f5c9a99011f48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463beff2e4b85" /><Relationship Type="http://schemas.openxmlformats.org/officeDocument/2006/relationships/notesSlide" Target="/ppt/notesSlides/notesSlide7.xml" Id="R128dc9db135549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e0d47a8204743" /><Relationship Type="http://schemas.openxmlformats.org/officeDocument/2006/relationships/notesSlide" Target="/ppt/notesSlides/notesSlide8.xml" Id="R0474cb503f144e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602ED-F4BC-4EEA-AB33-E386515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E5301-BE2A-41A1-B3C0-9EEB5BA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3267E-AEB3-40F0-81DA-1215FBD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13C5-6757-4364-9532-B9DD73B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8153-7F35-426B-8597-84B6C87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General concept and Trading Journal use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B2D48-C0FD-4C8C-B11D-5DE211E4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957FE-2616-42D1-99DD-8E3150EE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DBA82-5482-478F-9834-4E421108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AI app or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9D4A4-DFF8-46D4-95FE-6C168E2B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95600"/>
            <a:ext cx="2190750" cy="1485900"/>
          </a:xfrm>
          <a:prstGeom xmlns:a="http://schemas.openxmlformats.org/drawingml/2006/main" prst="roundRect">
            <a:avLst>
              <a:gd name="adj" fmla="val 5128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8402-7B97-4430-BDD3-ACA68058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5BBB84-5283-4925-A86A-F213B5DD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295650"/>
            <a:ext cx="1847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D2962-B1EA-4DBB-8F5F-C2C5623A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2CEA8-9A78-4B0B-9D4E-71E70A1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0AFAF-6215-43D0-B056-2AF6DE3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052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Tools and context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6385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91375" y="36385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F6290-ADD0-4448-8AC6-01B6897E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196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DF6FF"/>
                </a:solidFill>
                <a:latin typeface="Aptos"/>
                <a:ea typeface="Aptos"/>
                <a:cs typeface="Aptos"/>
              </a:rPr>
              <a:t>A common way for clients to discover and use external capabilities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EC369-6B9F-4917-BCFC-2A430425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01</a:t>
            </a:r>
          </a:p>
        </p:txBody>
      </p:sp>
    </p:spTree>
    <p:extLst>
      <p:ext uri="{BB962C8B-B14F-4D97-AF65-F5344CB8AC3E}">
        <p14:creationId xmlns:p14="http://schemas.microsoft.com/office/powerpoint/2010/main" val="342109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B5E30-8AEA-4A12-A670-3D504B6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BB380-8B66-4B7B-AD7F-E8878278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6541-743E-4B90-9C50-B2FC7A8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575EF-9A48-4242-A6DA-265A3C98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building blocks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17ADC-541A-422B-A7DB-E8C67D6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protocol separates user experience from available capabilities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BF331-6121-48AD-BDE7-B7CD3F9B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3E98-365F-440C-9D65-7EC6A13C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146BC-75D9-4626-AEC9-9DD4F48A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ChatGPT, IDE, or custom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81400-5FB1-481D-88DF-186A72AF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D0DAB-F1E4-45FD-94AE-CBA9E4DD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3FC89-5AC5-475F-88F4-2A9CDDF3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One connection per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468D7-C335-4DE4-A710-1FE6E5E2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288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4E81C-FFFA-4337-9726-8EE0BA9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431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D6BB1D-36FE-49FD-837D-76553F26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28925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Exposes tools and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50724-03C0-4A73-ADAC-C0D1CD1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28875"/>
            <a:ext cx="161925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68A03-CCA8-49A3-A0FB-2F988D69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431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053FF-E895-4753-A8C3-DA6AB34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28925"/>
            <a:ext cx="127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APIs, files, databases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0003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134100" y="300037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20200" y="3000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F8CBC-3441-431A-BAF2-C794BAB4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96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B0E170-56A0-4FE5-A28E-F86ACEE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D59A4-39FD-4734-A1DA-47F0E997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0D9DA-8708-4A48-ABDE-6B3DCD45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196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C7B3C-0EBC-48FD-A677-B1913439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533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14B99-D99F-4EE9-BCE2-AA3877B6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819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Readable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67A09-FB65-4747-82A9-E87DBF3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D26AC-7B56-4339-8EC3-248A29D4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339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PROMPTS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DE7C4A-285D-4F24-8BCE-C6BDB2E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9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Reusable workflows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B2E23-0DCA-469E-8DCC-A13CCBF9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02</a:t>
            </a:r>
          </a:p>
        </p:txBody>
      </p:sp>
    </p:spTree>
    <p:extLst>
      <p:ext uri="{BB962C8B-B14F-4D97-AF65-F5344CB8AC3E}">
        <p14:creationId xmlns:p14="http://schemas.microsoft.com/office/powerpoint/2010/main" val="598747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5E421-6525-40E1-8485-92A379E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D4ACC-754E-49DA-BA23-AF0B498A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2E46F-2804-4FB2-B787-D085CBE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D5FA9-A3B1-4ACA-BB10-B5C4ABE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Client to server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FA292-B1B9-464C-9D58-0DE4D22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Discovery happens before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9C08A-4D06-4D51-BDD9-A67CA172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1714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26750-4575-4BFB-8F02-654F6395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384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D35F8-6FC4-4FD5-B3B7-B597829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24175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715CD-646D-4F91-8DF6-F43879E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E925F-20F1-4BB8-92F0-1FF43575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BC93A-3AA8-4FE6-A7CF-7126A928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0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Discover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CC4F4-1AD8-481F-A0A3-5B235AC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A7922-74EE-461B-93A5-E06267C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9B0EB-03EE-4B42-98CC-67099C51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Call a 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2CB89-E823-41A5-8935-1A5D2C07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EF526-5339-4C42-809C-E314156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3842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412BA-3D94-45EF-9823-A5081BC7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24175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74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Return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193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958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72375" y="29813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D6BFA-FB32-45B1-9EF0-CCF5F99E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86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The client does not need to know how the server gets the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20931-3184-4CC6-B48D-86F379A7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It only needs the server contract: available tools, expected inputs, and structured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30FB3-C547-4677-836C-AAFC06A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03</a:t>
            </a:r>
          </a:p>
        </p:txBody>
      </p:sp>
    </p:spTree>
    <p:extLst>
      <p:ext uri="{BB962C8B-B14F-4D97-AF65-F5344CB8AC3E}">
        <p14:creationId xmlns:p14="http://schemas.microsoft.com/office/powerpoint/2010/main" val="1479928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AED086-8ECB-4C56-A5BA-BB33BA0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7996-0C9D-4112-A7E4-780B4D21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31819-D2F9-496C-A437-ADCB5C90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59E0E-BFA7-4026-851E-F0707216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Why MCP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5B63F-3B21-432E-AA3C-83416D89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One capability layer can support many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582DAA-7AE9-4750-84CE-AF169298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8BEFC-01D4-481C-945E-235B357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74C3B-D155-422F-B369-C6C15B39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2705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Stable capability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9DD3D-5837-4562-A4D0-6648DCAD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C3BF5-536B-40CE-AF6D-2F6F9470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764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5E942-A9BE-4F6D-8AA4-4D7962F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62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Web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75880-C172-42AE-879C-E46D1BBC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F7A88-352B-4B47-A7A5-2BC940BB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E66B2-21D9-469E-963A-86DDFBD9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863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9E42-7A57-4BBD-8EE8-5F661DDE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6210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711F4-F759-4A2E-872B-CB03B71B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C6151-313A-4130-8A72-AB7C36B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0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Future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79E70-0F8E-4750-8265-23422BED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86250"/>
            <a:ext cx="1905000" cy="781050"/>
          </a:xfrm>
          <a:prstGeom xmlns:a="http://schemas.openxmlformats.org/drawingml/2006/main" prst="roundRect">
            <a:avLst>
              <a:gd name="adj" fmla="val 9756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0F067-3CD1-44D3-BB6A-5FC2D5C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005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1E5A0-3DC6-4AC6-800C-FF5DC5B5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863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Other apps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09875" y="1952625"/>
            <a:ext cx="1762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09875" y="3248025"/>
            <a:ext cx="1762125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620000" y="1952625"/>
            <a:ext cx="180975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620000" y="3248025"/>
            <a:ext cx="180975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3F5C1-B27F-485C-833E-128BC3B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435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keeps client experience flexible while the server owns access, policy, and integration details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227D1-6A5D-49FA-8478-05B4CDC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04</a:t>
            </a:r>
          </a:p>
        </p:txBody>
      </p:sp>
    </p:spTree>
    <p:extLst>
      <p:ext uri="{BB962C8B-B14F-4D97-AF65-F5344CB8AC3E}">
        <p14:creationId xmlns:p14="http://schemas.microsoft.com/office/powerpoint/2010/main" val="20903134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5A2C42-7B65-44DE-8045-4F43C12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F4AA74-089F-476B-A6C0-DDD93D60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EB115-BBB4-43C8-8B24-FBFDFD37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80787-B452-4E4B-A034-633E51A0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MCP topology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47404-7DED-45CF-993C-79C772F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app exposes finance workflows through domain MCP servers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F6DC0-1DC2-4B9D-8F14-C2C5E891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BC350-602B-49CA-BCB6-A250C899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88F0B-8E95-4FBC-A9CF-99F336DF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Web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56604-1F98-4CD5-A73A-B9EFDAA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CDB28-2B41-4F66-A20A-5E3CAB6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BB5D1-7329-45A1-BE74-92777876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4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245FF-E34A-4E89-B6C5-03D990F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24576-5624-49F6-88A5-E9495CAB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9E5A3-D5EF-44B8-91F5-B106AD82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CLI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8E02-7C17-45AB-9376-A8E18E2E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CDC1F-0A74-487F-BEC4-E6DA668C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242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3B853-25A0-4EFE-9D5B-1BE4A65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099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FastAPI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A29C4-EB86-48A4-9890-B2BF62B1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668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CCAF7-0B58-41F6-89CE-75715EDC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181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61E6C-1B42-44B1-8E91-FA7697C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66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CE7FF-5B16-4261-A472-8EF11E5A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1455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D22AF-4A24-445E-A3F5-8B433F1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28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041861-C6EA-4AD4-BB16-1C91A48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EBEDB-0BA1-40CC-9BFD-3F384FF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89822A-0801-4192-B24D-ED907A45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766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056DD3-0313-4425-8CFF-42A633E6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News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737DE-A864-49BA-B365-5B661416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C6BA6-5A99-4849-BD56-3AECB605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243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02BE6A-8769-466F-A44D-6A905BC0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101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66C490-6416-4FF5-8BB3-8BE0D57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57800"/>
            <a:ext cx="1619250" cy="723900"/>
          </a:xfrm>
          <a:prstGeom xmlns:a="http://schemas.openxmlformats.org/drawingml/2006/main" prst="roundRect">
            <a:avLst>
              <a:gd name="adj" fmla="val 10526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E4D29B-0F92-4426-8262-1751BA0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721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6E68E4-6105-40C8-ABF7-E9C4AF71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578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1F36AA-9036-47A5-A36C-2E37781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38375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ADBF8-B97F-4BFC-A91E-6F085EE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526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F3898D-2B91-472D-87BD-59318EF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6384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58E883-111A-4083-B4E9-10B51417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57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E7DF5A-DDCA-4CB8-B85A-90DF168C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719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9BBCDB-513A-4BA1-AC82-66E03BC2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SQLite + audit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FC2ECB-3FDB-448B-9B47-9F00058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52750"/>
            <a:ext cx="1428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4215F-40ED-4CF9-A568-9342196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0670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APIS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EB1C57-5F66-4967-A050-7452A9E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3528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84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Alpaca + Yahoo</a:t>
            </a:r>
          </a:p>
        </p:txBody>
      </p: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286000" y="2105025"/>
            <a:ext cx="857250" cy="14001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97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86000" y="3505200"/>
            <a:ext cx="857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286000" y="3505200"/>
            <a:ext cx="8572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9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953000" y="1428750"/>
            <a:ext cx="857250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15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953000" y="2476500"/>
            <a:ext cx="85725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1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953000" y="3505200"/>
            <a:ext cx="8572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953000" y="3505200"/>
            <a:ext cx="8572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1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953000" y="3505200"/>
            <a:ext cx="857250" cy="21145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21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7429500" y="2476500"/>
            <a:ext cx="2809875" cy="8858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24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7429500" y="3362325"/>
            <a:ext cx="280987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6" name=""/>
          <p:cNvCxnSpPr>
            <a:stCxn xmlns:a="http://schemas.openxmlformats.org/drawingml/2006/main" id="1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429500" y="1428750"/>
            <a:ext cx="1000125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107" name=""/>
          <p:cNvCxnSpPr>
            <a:stCxn xmlns:a="http://schemas.openxmlformats.org/drawingml/2006/main" id="3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H="1">
            <a:off x="8429625" y="2647950"/>
            <a:ext cx="16192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2D859E-65B8-4DE6-9564-C828D055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05</a:t>
            </a:r>
          </a:p>
        </p:txBody>
      </p:sp>
    </p:spTree>
    <p:extLst>
      <p:ext uri="{BB962C8B-B14F-4D97-AF65-F5344CB8AC3E}">
        <p14:creationId xmlns:p14="http://schemas.microsoft.com/office/powerpoint/2010/main" val="87245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B0CD7-0AA4-4E69-83FD-5E5D3C06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CD2FF-3159-4EA8-AC79-365531B3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C43E5-522D-41E9-9F10-FC8260D6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33A69-AD1B-4DAE-8F35-222823A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Two client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FED2-DFED-4E29-809E-67F1E1F9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The same MCP servers support the browser and the terminal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0E2E6-A295-4953-B18E-F71D63CA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2EC89-0FF0-4AA6-B1BD-FB63664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050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20045-E400-4F5A-9704-64F42BD4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907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User clicks Market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C5CE2-30BB-47A0-9F5A-245CFC97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08C3A-1A10-4680-AA4D-A2EC73CA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050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INTERNAL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32BE-511B-4602-9C7E-9CE3CFBD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0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FastAPI MCP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5F243-51EC-4F1F-861E-45936D78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338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50E73-F0F5-4E3E-8241-FBDE4592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48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946BA-CA00-4D97-AD4E-297518D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339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mcp_demo_client.py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6EFD7-B776-46DC-ADB7-88F61A07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338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DB12D-8AEC-4E2C-A8CC-53F43B7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481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07E9B-C432-419A-82F6-ABF6C1D7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339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Streamable HTTP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7F331-FEC2-419B-9CD8-7DD17106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11430">
            <a:solidFill>
              <a:srgbClr val="4ADE8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73246-EBE1-4BB8-8C08-8E17A068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70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9475D-C2B3-4D65-96A2-D9DEFD2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528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Market Data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4AE2B-2511-482A-8DB5-C0F9B6B6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11430">
            <a:solidFill>
              <a:srgbClr val="2A3D5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115B9-2DFC-4AB3-B70C-FCE42A3F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EC961-1928-4368-BA6F-9B1EE910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Alpaca snapshots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2002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000375" y="45434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905500" y="2200275"/>
            <a:ext cx="1095375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905500" y="3476625"/>
            <a:ext cx="1095375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191625" y="34766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D4BF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891F94-B63D-485E-BAA7-9CD8E92A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578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The UI and CLI use different experiences, but the capability contract stays the same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46B0C5-4A71-44CC-91CF-F79E3B9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06</a:t>
            </a:r>
          </a:p>
        </p:txBody>
      </p:sp>
    </p:spTree>
    <p:extLst>
      <p:ext uri="{BB962C8B-B14F-4D97-AF65-F5344CB8AC3E}">
        <p14:creationId xmlns:p14="http://schemas.microsoft.com/office/powerpoint/2010/main" val="419146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6F842-8F95-46D5-AFC8-52B99C8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08C6E-447D-48D9-A504-2476650F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3064C-42D3-4B90-953E-1338ADE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469D3-256A-4B36-81CC-EABC9EC6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capability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C130A-2849-4820-ACD8-860A0061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Each financial domain has a focused server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3D731-FCDB-4B56-BD9C-4024CD6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08CC8-9673-4E90-A8BD-30A04343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B3A19-F5DD-479D-918C-CFAD9B3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1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Accounts, trades, 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E7AC4-A782-49FB-AA11-26D9F0B7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29B34-0B1E-43D2-B8B0-9EC5831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Market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CBB2F-15DA-425B-8B17-E6031934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Live prices through Alpaca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4AB20-F8F3-4B92-B489-99D295A1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9545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0C5F7-72A3-4894-8FF9-5A01D9D0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News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08C52-971E-4119-B4F8-DD4426D7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Stock news through Yahoo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E1DC5-5CF2-43C4-92D4-2B67825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AFC4EC-A011-4A6A-8D0A-EC1BFFE6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3E4F3-0F2E-41D1-A1DE-3B19850B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IBKR sync placeholder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6F6545-60F3-4081-8BA3-0D6D5EA4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FB71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37D0D-FFD5-4956-B50F-6D448B9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Trading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EAEAF-E2BC-4599-A202-D98CE04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Order preview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62D6D-6AAF-4E49-A6B5-EDB09326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3238500" cy="914400"/>
          </a:xfrm>
          <a:prstGeom xmlns:a="http://schemas.openxmlformats.org/drawingml/2006/main" prst="roundRect">
            <a:avLst>
              <a:gd name="adj" fmla="val 8333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B21FC-D7DA-4274-86B4-7E78EF87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900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E42F9-466D-4941-92DA-CC0BFA9A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Trace user and MCP activity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2A4BE-2924-4BD9-B36B-E267C2E2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Safety boundary: broker and trading workflows stay read-only or preview-only in the prototype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E41C2-FF4A-47B1-B7F0-A707DF73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07</a:t>
            </a:r>
          </a:p>
        </p:txBody>
      </p:sp>
    </p:spTree>
    <p:extLst>
      <p:ext uri="{BB962C8B-B14F-4D97-AF65-F5344CB8AC3E}">
        <p14:creationId xmlns:p14="http://schemas.microsoft.com/office/powerpoint/2010/main" val="1277022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B99B7-C5E7-40AA-8BB7-D4931689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DD653-B1ED-4AE3-8A28-6C82C6C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0" y="-1524000"/>
            <a:ext cx="4000500" cy="40005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FA7A-1590-444D-8F78-58E16C7A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191000" cy="419100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982A-A650-4E94-B10B-C02DE109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Reference material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98B76-E211-47B1-8527-055C8C7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Sources behind the MCP overview and application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CD543-511B-43AC-826E-BF7C22AF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DBC10-B417-45CE-968B-5827479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9240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DD83E-6CFB-4E00-9A75-E1DAD9B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98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Hosts, clients, servers and capability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E1D37-D5BC-44E7-B752-B82A1C61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F755E-EDEA-4FFE-BCC9-A87BA43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2405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specification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4C640-53E2-4B6A-B957-0F61594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Tools, resources, prompts and transport concepts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0ECB2-489F-4339-B469-9E91F61F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74A7C-A731-4B91-A80E-D22D848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543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MCP roadmap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73588-332C-4752-8EF2-3BFFDD44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8290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Ecosystem direction and future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2A174-EA6E-4E4C-9861-3DBDA1E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4095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11430">
            <a:solidFill>
              <a:srgbClr val="2DD4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6D479-B260-41D7-8A66-26E05AB6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43300"/>
            <a:ext cx="3790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DD4BF"/>
                </a:solidFill>
                <a:latin typeface="Aptos"/>
                <a:ea typeface="Aptos"/>
                <a:cs typeface="Aptos"/>
              </a:rPr>
              <a:t>Project docs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36D8D8-27C3-44C3-8383-8172F2E5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29050"/>
            <a:ext cx="3752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Trading Journal architecture and implementation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EA3CC-BF9F-4EED-B213-ED7D3F60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F6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DF6FF"/>
                </a:solidFill>
                <a:latin typeface="Aptos"/>
                <a:ea typeface="Aptos"/>
                <a:cs typeface="Aptos"/>
              </a:rPr>
              <a:t>Suggested talk track: define MCP first, then show how the app turns portfolio, market data and news into MCP capabilities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3C294-4FD2-4D7B-B676-5129E77F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AAAB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AABC"/>
                </a:solidFill>
                <a:latin typeface="Aptos"/>
                <a:ea typeface="Aptos"/>
                <a:cs typeface="Aptos"/>
              </a:rPr>
              <a:t>Trading Journal MCP  08</a:t>
            </a:r>
          </a:p>
        </p:txBody>
      </p:sp>
    </p:spTree>
    <p:extLst>
      <p:ext uri="{BB962C8B-B14F-4D97-AF65-F5344CB8AC3E}">
        <p14:creationId xmlns:p14="http://schemas.microsoft.com/office/powerpoint/2010/main" val="586747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2026-10-06T00:18:59.0640000Z</dcterms:created>
  <dcterms:modified xsi:type="dcterms:W3CDTF">2026-10-06T00:18:59.0640000Z</dcterms:modified>
</coreProperties>
</file>